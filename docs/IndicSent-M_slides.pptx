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533"/>
                </a:solidFill>
                <a:latin typeface="Calibri"/>
              </a:rPr>
              <a:t>Memes per split and label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1E8E4E"/>
            </a:solidFill>
          </c:spPr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942</c:v>
                </c:pt>
                <c:pt idx="1">
                  <c:v>134</c:v>
                </c:pt>
                <c:pt idx="2">
                  <c:v>269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8A8F99"/>
            </a:solidFill>
          </c:spPr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203</c:v>
                </c:pt>
                <c:pt idx="1">
                  <c:v>29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1909</c:v>
                </c:pt>
                <c:pt idx="1">
                  <c:v>271</c:v>
                </c:pt>
                <c:pt idx="2">
                  <c:v>547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2225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6"/>
            </a:solidFill>
          </a:ln>
        </c:spPr>
        <c:txPr>
          <a:bodyPr/>
          <a:lstStyle/>
          <a:p>
            <a:pPr>
              <a:defRPr sz="1100">
                <a:solidFill>
                  <a:srgbClr val="2225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5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4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533"/>
                </a:solidFill>
                <a:latin typeface="Calibri"/>
              </a:rPr>
              <a:t>Macro-F1 and accuracy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1B1F3B"/>
            </a:solidFill>
          </c:spPr>
          <c:cat>
            <c:strRef>
              <c:f>Sheet1!$A$2:$A$6</c:f>
              <c:strCache>
                <c:ptCount val="5"/>
                <c:pt idx="0">
                  <c:v>Majority</c:v>
                </c:pt>
                <c:pt idx="1">
                  <c:v>Text</c:v>
                </c:pt>
                <c:pt idx="2">
                  <c:v>Image</c:v>
                </c:pt>
                <c:pt idx="3">
                  <c:v>MM-concat</c:v>
                </c:pt>
                <c:pt idx="4">
                  <c:v>MM-attention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0.2566267886464931</c:v>
                </c:pt>
                <c:pt idx="1">
                  <c:v>0.544934547206778</c:v>
                </c:pt>
                <c:pt idx="2">
                  <c:v>0.5034365953493106</c:v>
                </c:pt>
                <c:pt idx="3">
                  <c:v>0.5776611293852674</c:v>
                </c:pt>
                <c:pt idx="4">
                  <c:v>0.5889292824057779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Sheet1!$A$2:$A$6</c:f>
              <c:strCache>
                <c:ptCount val="5"/>
                <c:pt idx="0">
                  <c:v>Majority</c:v>
                </c:pt>
                <c:pt idx="1">
                  <c:v>Text</c:v>
                </c:pt>
                <c:pt idx="2">
                  <c:v>Image</c:v>
                </c:pt>
                <c:pt idx="3">
                  <c:v>MM-concat</c:v>
                </c:pt>
                <c:pt idx="4">
                  <c:v>MM-attention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0.6258581235697941</c:v>
                </c:pt>
                <c:pt idx="1">
                  <c:v>0.6899313501144165</c:v>
                </c:pt>
                <c:pt idx="2">
                  <c:v>0.6807780320366132</c:v>
                </c:pt>
                <c:pt idx="3">
                  <c:v>0.7425629290617849</c:v>
                </c:pt>
                <c:pt idx="4">
                  <c:v>0.7425629290617849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225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6"/>
            </a:solidFill>
          </a:ln>
        </c:spPr>
        <c:txPr>
          <a:bodyPr/>
          <a:lstStyle/>
          <a:p>
            <a:pPr>
              <a:defRPr sz="1100">
                <a:solidFill>
                  <a:srgbClr val="2225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5E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4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533"/>
                </a:solidFill>
                <a:latin typeface="Calibri"/>
              </a:rPr>
              <a:t>Per-class F1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rgbClr val="3A5BA9"/>
            </a:solidFill>
          </c:spPr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0.6365159128978225</c:v>
                </c:pt>
                <c:pt idx="1">
                  <c:v>0.22608695652173913</c:v>
                </c:pt>
                <c:pt idx="2">
                  <c:v>0.7722007722007722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Image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0.5622317596566524</c:v>
                </c:pt>
                <c:pt idx="1">
                  <c:v>0.16666666666666666</c:v>
                </c:pt>
                <c:pt idx="2">
                  <c:v>0.7814113597246127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MM-concat</c:v>
                </c:pt>
              </c:strCache>
            </c:strRef>
          </c:tx>
          <c:spPr>
            <a:solidFill>
              <a:srgbClr val="1A936F"/>
            </a:solidFill>
          </c:spPr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0.6718146718146718</c:v>
                </c:pt>
                <c:pt idx="1">
                  <c:v>0.24242424242424243</c:v>
                </c:pt>
                <c:pt idx="2">
                  <c:v>0.8187444739168878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MM-attention</c:v>
                </c:pt>
              </c:strCache>
            </c:strRef>
          </c:tx>
          <c:spPr>
            <a:solidFill>
              <a:srgbClr val="6C4FA3"/>
            </a:solidFill>
          </c:spPr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0.6888454011741683</c:v>
                </c:pt>
                <c:pt idx="1">
                  <c:v>0.256</c:v>
                </c:pt>
                <c:pt idx="2">
                  <c:v>0.8219424460431655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225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6"/>
            </a:solidFill>
          </a:ln>
        </c:spPr>
        <c:txPr>
          <a:bodyPr/>
          <a:lstStyle/>
          <a:p>
            <a:pPr>
              <a:defRPr sz="1100">
                <a:solidFill>
                  <a:srgbClr val="2225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5E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4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533"/>
                </a:solidFill>
                <a:latin typeface="Calibri"/>
              </a:rPr>
              <a:t>Macro-F1: seen vs unseen source pages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1B1F3B"/>
            </a:solidFill>
          </c:spPr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Image</c:v>
                </c:pt>
                <c:pt idx="2">
                  <c:v>MM-concat</c:v>
                </c:pt>
                <c:pt idx="3">
                  <c:v>MM-attention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0.544934547206778</c:v>
                </c:pt>
                <c:pt idx="1">
                  <c:v>0.5034365953493106</c:v>
                </c:pt>
                <c:pt idx="2">
                  <c:v>0.5776611293852674</c:v>
                </c:pt>
                <c:pt idx="3">
                  <c:v>0.5889292824057779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source pages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Image</c:v>
                </c:pt>
                <c:pt idx="2">
                  <c:v>MM-concat</c:v>
                </c:pt>
                <c:pt idx="3">
                  <c:v>MM-attention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0.32651339940603447</c:v>
                </c:pt>
                <c:pt idx="1">
                  <c:v>0.3638448296033829</c:v>
                </c:pt>
                <c:pt idx="2">
                  <c:v>0.3870924975805061</c:v>
                </c:pt>
                <c:pt idx="3">
                  <c:v>0.3380350087173694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225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6"/>
            </a:solidFill>
          </a:ln>
        </c:spPr>
        <c:txPr>
          <a:bodyPr/>
          <a:lstStyle/>
          <a:p>
            <a:pPr>
              <a:defRPr sz="1100">
                <a:solidFill>
                  <a:srgbClr val="2225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5E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47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overview. All numbers in this deck are read from the evaluation outputs by scripts/make_slides.py.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Text: acc 0.6899 [0.6590389016018307, 0.7219679633867276], macro-F1 0.5449 [0.5037926916454557, 0.5890726520154802], per-class F1 pos/neu/neg 0.637/0.226/0.772</a:t>
            </a:r>
          </a:p>
          <a:p>
            <a:r>
              <a:t>Image: acc 0.6808 [0.6498855835240275, 0.7139588100686499], macro-F1 0.5034 [0.4650687945317198, 0.5426952057496921], per-class F1 pos/neu/neg 0.562/0.167/0.781</a:t>
            </a:r>
          </a:p>
          <a:p>
            <a:r>
              <a:t>MM-concat: acc 0.7426 [0.7127860411899314, 0.7700228832951945], macro-F1 0.5777 [0.5341675309216009, 0.6207047251305977], per-class F1 pos/neu/neg 0.672/0.242/0.819</a:t>
            </a:r>
          </a:p>
          <a:p>
            <a:r>
              <a:t>MM-attention: acc 0.7426 [0.7128146453089245, 0.771195652173913], macro-F1 0.5889 [0.5469331450006087, 0.6291380229876695], per-class F1 pos/neu/neg 0.689/0.256/0.822</a:t>
            </a:r>
          </a:p>
          <a:p>
            <a:r>
              <a:t>Majority: acc 0.6259 [0.5949656750572082, 0.6590389016018307], macro-F1 0.2566 [0.24868483978957437, 0.26482758620689656], per-class F1 pos/neu/neg 0.000/0.000/0.770</a:t>
            </a:r>
          </a:p>
          <a:p>
            <a:r>
              <a:t>Source prior*: acc 0.7826 [0.7562929061784897, 0.8100686498855835], macro-F1 0.5236 [0.5034899973334469, 0.5432742915027521], per-class F1 pos/neu/neg 0.728/0.000/0.843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IndicSent-M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Cambria"/>
              </a:rPr>
              <a:t>Multimodal Sentiment Analysis for Indian Languages Using Text and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07A1F"/>
                </a:solidFill>
                <a:latin typeface="Calibri"/>
              </a:rPr>
              <a:t>XLM-R + ResNet-50 on Bengali memes (MemoSen) · text vs image vs fusion ·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49377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9377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Why memes need more than text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Motivation and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700" b="1">
                <a:solidFill>
                  <a:srgbClr val="222533"/>
                </a:solidFill>
                <a:latin typeface="Calibri"/>
              </a:rPr>
              <a:t>Multilingual, code-mixed. </a:t>
            </a:r>
            <a:r>
              <a:rPr sz="1700" b="0">
                <a:solidFill>
                  <a:srgbClr val="222533"/>
                </a:solidFill>
                <a:latin typeface="Calibri"/>
              </a:rPr>
              <a:t>Indian social media mixes Bengali and Latin script, romanised Bengali/Hindi, emojis and cultural references.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 b="1">
                <a:solidFill>
                  <a:srgbClr val="222533"/>
                </a:solidFill>
                <a:latin typeface="Calibri"/>
              </a:rPr>
              <a:t>Meaning lives across modalities. </a:t>
            </a:r>
            <a:r>
              <a:rPr sz="1700" b="0">
                <a:solidFill>
                  <a:srgbClr val="222533"/>
                </a:solidFill>
                <a:latin typeface="Calibri"/>
              </a:rPr>
              <a:t>A cheerful caption on a grim picture can be sarcasm; the image alone or the text alone can mislead.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 b="1">
                <a:solidFill>
                  <a:srgbClr val="222533"/>
                </a:solidFill>
                <a:latin typeface="Calibri"/>
              </a:rPr>
              <a:t>Tools lag behind. </a:t>
            </a:r>
            <a:r>
              <a:rPr sz="1700" b="0">
                <a:solidFill>
                  <a:srgbClr val="222533"/>
                </a:solidFill>
                <a:latin typeface="Calibri"/>
              </a:rPr>
              <a:t>Most sentiment systems are text-only and English-centric; Indian languages are lower-resource.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700" b="1">
                <a:solidFill>
                  <a:srgbClr val="222533"/>
                </a:solidFill>
                <a:latin typeface="Calibri"/>
              </a:rPr>
              <a:t>Question. </a:t>
            </a:r>
            <a:r>
              <a:rPr sz="1700" b="0">
                <a:solidFill>
                  <a:srgbClr val="222533"/>
                </a:solidFill>
                <a:latin typeface="Calibri"/>
              </a:rPr>
              <a:t>Does fusing caption + image beat either modality alone, and can we show why a model decided?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4023360" cy="420624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B1F3B"/>
                </a:solidFill>
                <a:latin typeface="Cambria"/>
              </a:rPr>
              <a:t>4,362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65176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labelled Bengali memes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24612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07A1F"/>
                </a:solidFill>
                <a:latin typeface="Cambria"/>
              </a:rPr>
              <a:t>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97764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captions mixing Bengali and Latin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7200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0392B"/>
                </a:solidFill>
                <a:latin typeface="Cambria"/>
              </a:rPr>
              <a:t>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30352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of memes are neutral: strong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Research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mbria"/>
              </a:rPr>
              <a:t>Build three model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23160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533"/>
                </a:solidFill>
                <a:latin typeface="Calibri"/>
              </a:rPr>
              <a:t>Text-only (XLM-R), image-only (ResNet-50) and multimodal 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874520"/>
            <a:ext cx="685800" cy="6858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mbria"/>
              </a:rPr>
              <a:t>Compare fairly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423160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533"/>
                </a:solidFill>
                <a:latin typeface="Calibri"/>
              </a:rPr>
              <a:t>Same leakage-safe split, same training recipe, bootstrap confidence intervals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06240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mbria"/>
              </a:rPr>
              <a:t>Two fusion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00600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533"/>
                </a:solidFill>
                <a:latin typeface="Calibri"/>
              </a:rPr>
              <a:t>Feature concatenation baseline vs. bidirectional cross-attention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251960"/>
            <a:ext cx="685800" cy="68580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206240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F3B"/>
                </a:solidFill>
                <a:latin typeface="Cambria"/>
              </a:rPr>
              <a:t>Explain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00600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533"/>
                </a:solidFill>
                <a:latin typeface="Calibri"/>
              </a:rPr>
              <a:t>Word occlusion / Integrated Gradients and Grad-CAM, with stated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Dataset: MemoSen (Bengali memes, LREC 2022)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4,372 annotations → 4,362 usable after validation &amp; de-duplication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3760" y="173736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Inputs: </a:t>
            </a:r>
            <a:r>
              <a:rPr sz="1500" b="0">
                <a:solidFill>
                  <a:srgbClr val="222533"/>
                </a:solidFill>
                <a:latin typeface="Calibri"/>
              </a:rPr>
              <a:t>meme image + transcribed caption; label positive / neutral / negative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Scripts: </a:t>
            </a:r>
            <a:r>
              <a:rPr sz="1500" b="0">
                <a:solidFill>
                  <a:srgbClr val="222533"/>
                </a:solidFill>
                <a:latin typeface="Calibri"/>
              </a:rPr>
              <a:t>Bengali 2,963 · mixed 905 · Latin 494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Split: </a:t>
            </a:r>
            <a:r>
              <a:rPr sz="1500" b="0">
                <a:solidFill>
                  <a:srgbClr val="222533"/>
                </a:solidFill>
                <a:latin typeface="Calibri"/>
              </a:rPr>
              <a:t>70 / 10 / 20, stratified, grouped by near-duplicate image or caption — 0 groups leak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Removed: </a:t>
            </a:r>
            <a:r>
              <a:rPr sz="1500" b="0">
                <a:solidFill>
                  <a:srgbClr val="222533"/>
                </a:solidFill>
                <a:latin typeface="Calibri"/>
              </a:rPr>
              <a:t>6 exact duplicate, 4 invalid image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Licence: </a:t>
            </a:r>
            <a:r>
              <a:rPr sz="1500" b="0">
                <a:solidFill>
                  <a:srgbClr val="222533"/>
                </a:solidFill>
                <a:latin typeface="Calibri"/>
              </a:rPr>
              <a:t>none published → research use with citation, not redistributed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Preprocessing pipeline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Conservative by design: sentiment cues and scripts are preserved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691640" cy="237744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1.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17520"/>
            <a:ext cx="1463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E0EE"/>
                </a:solidFill>
                <a:latin typeface="Calibri"/>
              </a:rPr>
              <a:t>xlsx captions, image files,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2194560"/>
            <a:ext cx="1691640" cy="2377440"/>
          </a:xfrm>
          <a:prstGeom prst="roundRect">
            <a:avLst>
              <a:gd name="adj" fmla="val 8000"/>
            </a:avLst>
          </a:prstGeom>
          <a:solidFill>
            <a:srgbClr val="2E3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37744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2.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017520"/>
            <a:ext cx="1463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E0EE"/>
                </a:solidFill>
                <a:latin typeface="Calibri"/>
              </a:rPr>
              <a:t>decode, size limits, drop missing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194560"/>
            <a:ext cx="1691640" cy="237744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37744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3. Normalise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3017520"/>
            <a:ext cx="1463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E0EE"/>
                </a:solidFill>
                <a:latin typeface="Calibri"/>
              </a:rPr>
              <a:t>NFC · URL/@USER · keep emoji, negation, ZWJ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194560"/>
            <a:ext cx="1691640" cy="2377440"/>
          </a:xfrm>
          <a:prstGeom prst="roundRect">
            <a:avLst>
              <a:gd name="adj" fmla="val 8000"/>
            </a:avLst>
          </a:prstGeom>
          <a:solidFill>
            <a:srgbClr val="2E3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4. Script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017520"/>
            <a:ext cx="1463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E0EE"/>
                </a:solidFill>
                <a:latin typeface="Calibri"/>
              </a:rPr>
              <a:t>Bengali / Latin / mixed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194560"/>
            <a:ext cx="1691640" cy="237744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37744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5. De-duplicate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017520"/>
            <a:ext cx="1463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E0EE"/>
                </a:solidFill>
                <a:latin typeface="Calibri"/>
              </a:rPr>
              <a:t>dHash + text; conflicting labels dropped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194560"/>
            <a:ext cx="1691640" cy="2377440"/>
          </a:xfrm>
          <a:prstGeom prst="roundRect">
            <a:avLst>
              <a:gd name="adj" fmla="val 8000"/>
            </a:avLst>
          </a:prstGeom>
          <a:solidFill>
            <a:srgbClr val="2E3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8128" y="237744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6. Group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3017520"/>
            <a:ext cx="1463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E0EE"/>
                </a:solidFill>
                <a:latin typeface="Calibri"/>
              </a:rPr>
              <a:t>union-find groups,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07A1F"/>
                </a:solidFill>
                <a:latin typeface="Calibri"/>
              </a:rPr>
              <a:t>Not done on purpose: 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533"/>
                </a:solidFill>
                <a:latin typeface="Calibri"/>
              </a:rPr>
              <a:t>lower-casing (XLM-R is cased), emoji/stop-word removal, stemming, transliteration — each would erase sentiment cues or script information. Images cached at 448 px once so training does not decode multi-megapixel files every epoch.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Model architecture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Three model families, one shared training recipe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463040" cy="1188720"/>
          </a:xfrm>
          <a:prstGeom prst="roundRect">
            <a:avLst>
              <a:gd name="adj" fmla="val 8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7373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XLM-R base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(top 4 of 12 layers trained)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7373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2E3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mean-pool 768-d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or token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463040" cy="1188720"/>
          </a:xfrm>
          <a:prstGeom prst="roundRect">
            <a:avLst>
              <a:gd name="adj" fmla="val 8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ResNet-50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(layer4 trained)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84048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2E3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pool 2048-d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or 7×7 region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194560"/>
            <a:ext cx="2194560" cy="2651760"/>
          </a:xfrm>
          <a:prstGeom prst="roundRect">
            <a:avLst>
              <a:gd name="adj" fmla="val 8000"/>
            </a:avLst>
          </a:prstGeom>
          <a:solidFill>
            <a:srgbClr val="1A9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Fusion</a:t>
            </a:r>
          </a:p>
          <a:p>
            <a:pPr algn="ctr"/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concat (256+256)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or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cross-attention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text ⇄ 49 regions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292608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B1F3B"/>
                </a:solidFill>
                <a:latin typeface="Calibri"/>
              </a:rPr>
              <a:t>MLP → softmax</a:t>
            </a:r>
          </a:p>
          <a:p>
            <a:pPr algn="ctr"/>
            <a:r>
              <a:rPr sz="1400">
                <a:solidFill>
                  <a:srgbClr val="1B1F3B"/>
                </a:solidFill>
                <a:latin typeface="Calibri"/>
              </a:rPr>
              <a:t>pos / neu / neg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6560" y="2331720"/>
            <a:ext cx="548640" cy="594360"/>
          </a:xfrm>
          <a:prstGeom prst="line">
            <a:avLst/>
          </a:prstGeom>
          <a:ln w="25400">
            <a:solidFill>
              <a:srgbClr val="5F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766560" y="4023360"/>
            <a:ext cx="548640" cy="411480"/>
          </a:xfrm>
          <a:prstGeom prst="line">
            <a:avLst/>
          </a:prstGeom>
          <a:ln w="25400">
            <a:solidFill>
              <a:srgbClr val="5F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09760" y="3520440"/>
            <a:ext cx="365760" cy="0"/>
          </a:xfrm>
          <a:prstGeom prst="line">
            <a:avLst/>
          </a:prstGeom>
          <a:ln w="25400">
            <a:solidFill>
              <a:srgbClr val="5F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47A"/>
                </a:solidFill>
                <a:latin typeface="Calibri"/>
              </a:rPr>
              <a:t>Text-only and image-only models put a linear head directly on the pooled vector. Multimodal models always use both inputs — forward() refuses a missing modality, and tests check both change the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Training and evaluation protocol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Identical for every experiment; test set never used for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583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Cross-entropy, √-inverse-frequency class weights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AdamW · lr 2e-5 / 1e-4 / 1e-3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Schedule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10 % warm-up, linear decay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Batch · epochs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16 · ≤ 8, early stop (patience 3)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best validation macro-F1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Apple M1, 8 GB, PyTorch MPS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Primary metric: </a:t>
            </a:r>
            <a:r>
              <a:rPr sz="1500" b="0">
                <a:solidFill>
                  <a:srgbClr val="222533"/>
                </a:solidFill>
                <a:latin typeface="Calibri"/>
              </a:rPr>
              <a:t>macro-F1 — an all-negative model gets ~63 % accuracy but 0.26 macro-F1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Uncertainty: </a:t>
            </a:r>
            <a:r>
              <a:rPr sz="1500" b="0">
                <a:solidFill>
                  <a:srgbClr val="222533"/>
                </a:solidFill>
                <a:latin typeface="Calibri"/>
              </a:rPr>
              <a:t>95 % bootstrap CIs; paired bootstrap for model differences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Modality ablation: </a:t>
            </a:r>
            <a:r>
              <a:rPr sz="1500" b="0">
                <a:solidFill>
                  <a:srgbClr val="222533"/>
                </a:solidFill>
                <a:latin typeface="Calibri"/>
              </a:rPr>
              <a:t>neutral image / removed caption at test time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222533"/>
                </a:solidFill>
                <a:latin typeface="Calibri"/>
              </a:rPr>
              <a:t>Robustness: </a:t>
            </a:r>
            <a:r>
              <a:rPr sz="1500" b="0">
                <a:solidFill>
                  <a:srgbClr val="222533"/>
                </a:solidFill>
                <a:latin typeface="Calibri"/>
              </a:rPr>
              <a:t>second split with whole source pages held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Results: test set, random group split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874 test memes · identical for every model · 95 % CIs in notes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1737360"/>
          <a:ext cx="40233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95 % CI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Majority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0.257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0.25–0.26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0.50–0.59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0.503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0.47–0.54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MM-concat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0.578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533"/>
                          </a:solidFill>
                          <a:latin typeface="Calibri"/>
                        </a:rPr>
                        <a:t>0.53–0.62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533"/>
                          </a:solidFill>
                          <a:latin typeface="Calibri"/>
                        </a:rPr>
                        <a:t>MM-attention</a:t>
                      </a:r>
                    </a:p>
                  </a:txBody>
                  <a:tcPr marL="73152" marR="73152" anchor="ctr"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533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 marL="73152" marR="73152" anchor="ctr"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533"/>
                          </a:solidFill>
                          <a:latin typeface="Calibri"/>
                        </a:rPr>
                        <a:t>0.55–0.63</a:t>
                      </a:r>
                    </a:p>
                  </a:txBody>
                  <a:tcPr marL="73152" marR="73152" anchor="ctr">
                    <a:solidFill>
                      <a:srgbClr val="FAEBD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4114800"/>
            <a:ext cx="4023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533"/>
                </a:solidFill>
                <a:latin typeface="Calibri"/>
              </a:rPr>
              <a:t>MM-concat vs Text: Δ +0.033 → not significantly different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533"/>
                </a:solidFill>
                <a:latin typeface="Calibri"/>
              </a:rPr>
              <a:t>MM-concat vs Image: Δ +0.074 → significantly better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533"/>
                </a:solidFill>
                <a:latin typeface="Calibri"/>
              </a:rPr>
              <a:t>MM-attention vs Text: Δ +0.044 → significantly better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533"/>
                </a:solidFill>
                <a:latin typeface="Calibri"/>
              </a:rPr>
              <a:t>MM-attention vs Image: Δ +0.085 → significantly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Per-class F1 and modality ablation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463040"/>
          <a:ext cx="48463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058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· condition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Changed</a:t>
                      </a:r>
                    </a:p>
                  </a:txBody>
                  <a:tcPr marL="73152" marR="73152" anchor="ctr">
                    <a:solidFill>
                      <a:srgbClr val="1B1F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MM-concat · full input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0.578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MM-concat · neutral image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0.511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MM-concat · no caption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0.470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MM-attention · full input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MM-attention · neutral image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0.467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MM-attention · no caption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0.376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533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marL="73152" marR="73152" anchor="ctr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4123944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“Changed” = share of test predictions that flip when one input is neutralised. Large flips for both inputs mean the fused model relies on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Shortcut: the source page predicts the label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Memes from the same page share watermarks and style — and very different label mixes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840480" cy="429768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0392B"/>
                </a:solidFill>
                <a:latin typeface="Cambria"/>
              </a:rPr>
              <a:t>78%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3474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test accuracy from page identity alone (no content)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B1F3B"/>
                </a:solidFill>
                <a:latin typeface="Cambria"/>
              </a:rPr>
              <a:t>0.524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474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macro-F1 of that shortcut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3474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7A"/>
                </a:solidFill>
                <a:latin typeface="Calibri"/>
              </a:rPr>
              <a:t>e.g. page “KAM” is 80 % positive; “chosha” is 98.5 % negative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54880" y="160020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54880" y="5669280"/>
            <a:ext cx="6949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7A"/>
                </a:solidFill>
                <a:latin typeface="Calibri"/>
              </a:rPr>
              <a:t>Different test sets (874 vs 938 memes): compare the drop per model, not absolute values across splits.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Explainability: what the models are sensitive to</a:t>
            </a:r>
          </a:p>
        </p:txBody>
      </p:sp>
      <p:pic>
        <p:nvPicPr>
          <p:cNvPr id="3" name="Picture 2" descr="memosen_Bangla_Thug_Life_220_.j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680960" cy="3600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37160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Occlusion: </a:t>
            </a:r>
            <a:r>
              <a:rPr sz="1400" b="0">
                <a:solidFill>
                  <a:srgbClr val="222533"/>
                </a:solidFill>
                <a:latin typeface="Calibri"/>
              </a:rPr>
              <a:t>drop in P(class) when a word is removed — exact, but ignores interactions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Integrated Gradients: </a:t>
            </a:r>
            <a:r>
              <a:rPr sz="1400" b="0">
                <a:solidFill>
                  <a:srgbClr val="222533"/>
                </a:solidFill>
                <a:latin typeface="Calibri"/>
              </a:rPr>
              <a:t>completeness checked; hidden when it fails to converge on XLM-R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Grad-CAM: </a:t>
            </a:r>
            <a:r>
              <a:rPr sz="1400" b="0">
                <a:solidFill>
                  <a:srgbClr val="222533"/>
                </a:solidFill>
                <a:latin typeface="Calibri"/>
              </a:rPr>
              <a:t>7×7 sensitivity map; often highlights caption text in the image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Caveat: </a:t>
            </a:r>
            <a:r>
              <a:rPr sz="1400" b="0">
                <a:solidFill>
                  <a:srgbClr val="222533"/>
                </a:solidFill>
                <a:latin typeface="Calibri"/>
              </a:rPr>
              <a:t>sensitivity ≠ cause; not proof of what an annotator meant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1F3B"/>
                </a:solidFill>
                <a:latin typeface="Cambria"/>
              </a:rPr>
              <a:t>The IndicSent-M application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47A"/>
                </a:solidFill>
                <a:latin typeface="Calibri"/>
              </a:rPr>
              <a:t>Streamlit UI + FastAPI service, CPU-compatible, Docker image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2763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mbria"/>
              </a:rPr>
              <a:t>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75104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7A"/>
                </a:solidFill>
                <a:latin typeface="Calibri"/>
              </a:rPr>
              <a:t>objectives, languages,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42032"/>
            <a:ext cx="640080" cy="6400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23744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mbria"/>
              </a:rP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71216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7A"/>
                </a:solidFill>
                <a:latin typeface="Calibri"/>
              </a:rPr>
              <a:t>text / image / multimodal input, probabilities, word highlights, Grad-CAM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38144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19856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mbria"/>
              </a:rPr>
              <a:t>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67328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7A"/>
                </a:solidFill>
                <a:latin typeface="Calibri"/>
              </a:rPr>
              <a:t>tables, CIs, confusion matrices, ablations, both split protocols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34256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315968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mbria"/>
              </a:rPr>
              <a:t>Dataset &amp;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7A"/>
                </a:solidFill>
                <a:latin typeface="Calibri"/>
              </a:rPr>
              <a:t>statistics, pipeline, limitations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30368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120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1F3B"/>
                </a:solidFill>
                <a:latin typeface="Cambria"/>
              </a:rPr>
              <a:t>About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595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7A"/>
                </a:solidFill>
                <a:latin typeface="Calibri"/>
              </a:rPr>
              <a:t>motivation, technologies, future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645920"/>
            <a:ext cx="4754880" cy="438912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8288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Never fakes a prediction: </a:t>
            </a:r>
            <a:r>
              <a:rPr sz="1400" b="0">
                <a:solidFill>
                  <a:srgbClr val="222533"/>
                </a:solidFill>
                <a:latin typeface="Calibri"/>
              </a:rPr>
              <a:t>no checkpoint → setup steps; optional preview is labelled DEMO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Confidence wording: </a:t>
            </a:r>
            <a:r>
              <a:rPr sz="1400" b="0">
                <a:solidFill>
                  <a:srgbClr val="222533"/>
                </a:solidFill>
                <a:latin typeface="Calibri"/>
              </a:rPr>
              <a:t>predicted-class probability, not a guarantee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Robust inputs: </a:t>
            </a:r>
            <a:r>
              <a:rPr sz="1400" b="0">
                <a:solidFill>
                  <a:srgbClr val="222533"/>
                </a:solidFill>
                <a:latin typeface="Calibri"/>
              </a:rPr>
              <a:t>corrupt / oversized images, empty text, unsupported scripts handled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1">
                <a:solidFill>
                  <a:srgbClr val="222533"/>
                </a:solidFill>
                <a:latin typeface="Calibri"/>
              </a:rPr>
              <a:t>Tested: </a:t>
            </a:r>
            <a:r>
              <a:rPr sz="1400" b="0">
                <a:solidFill>
                  <a:srgbClr val="222533"/>
                </a:solidFill>
                <a:latin typeface="Calibri"/>
              </a:rPr>
              <a:t>pytest suite covers data, models, inference, explainers,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Random split: best macro-F1 MM-attention (0.589).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MM-concat vs text-only: not significantly different (Δ +0.033, one-sided p = 0.097; 9 comparisons, so treat p &gt; 0.006 as fragile).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MM-attention vs text-only: significantly better (Δ +0.044, one-sided p = 0.015; 9 comparisons, so treat p &gt; 0.006 as fragile).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Cross-attention vs concatenation: not significantly different.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Page identity alone gives 78% accuracy: random-split scores mix sentiment with page recognition.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On unseen pages every model drops 0.14–0.25 macro-F1; best is MM-concat (0.387).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Unseen pages: cross-attention vs concat significantly worse (Δ -0.049).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Neutral memes (~7 %) remain the hardest class for every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463040"/>
            <a:ext cx="4023360" cy="4572000"/>
          </a:xfrm>
          <a:prstGeom prst="roundRect">
            <a:avLst>
              <a:gd name="adj" fmla="val 8000"/>
            </a:avLst>
          </a:prstGeom>
          <a:solidFill>
            <a:srgbClr val="2E3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07A1F"/>
                </a:solidFill>
                <a:latin typeface="Cambria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28600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Hinglish memes (Memotion 3, registration)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OCR for captions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CLIP-style vision-language encoders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Several seeds + calibration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Sarcasm-aware training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Human study of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9EB5"/>
                </a:solidFill>
                <a:latin typeface="Calibri"/>
              </a:rPr>
              <a:t>IndicSent-M · multimodal meme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9A9EB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